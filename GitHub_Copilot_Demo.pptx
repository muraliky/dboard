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3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1: Test Automation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4747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rgbClr val="FFE5E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440180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3716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using GitHub Copilot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85800" y="1874520"/>
            <a:ext cx="3017520" cy="18288"/>
          </a:xfrm>
          <a:prstGeom prst="rect">
            <a:avLst/>
          </a:prstGeom>
          <a:solidFill>
            <a:srgbClr val="E1E8ED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965960"/>
            <a:ext cx="30175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Code Generation</a:t>
            </a:r>
            <a:endParaRPr lang="en-US" sz="1200" dirty="0"/>
          </a:p>
          <a:p>
            <a:pPr lvl="1" indent="0" marL="0">
              <a:buNone/>
            </a:pPr>
            <a:r>
              <a:rPr lang="en-US" sz="1000" dirty="0">
                <a:solidFill>
                  <a:srgbClr val="6C7A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Auto-generates locators &amp; methods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Enforcement</a:t>
            </a:r>
            <a:endParaRPr lang="en-US" sz="1200" dirty="0"/>
          </a:p>
          <a:p>
            <a:pPr lvl="1" indent="0" marL="0">
              <a:buNone/>
            </a:pPr>
            <a:r>
              <a:rPr lang="en-US" sz="1000" dirty="0">
                <a:solidFill>
                  <a:srgbClr val="6C7A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instructions with best practices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Consistency</a:t>
            </a:r>
            <a:endParaRPr lang="en-US" sz="1200" dirty="0"/>
          </a:p>
          <a:p>
            <a:pPr lvl="1" indent="0" marL="0">
              <a:buNone/>
            </a:pPr>
            <a:r>
              <a:rPr lang="en-US" sz="1000" dirty="0">
                <a:solidFill>
                  <a:srgbClr val="6C7A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code quality across team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06240" y="1097280"/>
            <a:ext cx="1645920" cy="548640"/>
          </a:xfrm>
          <a:prstGeom prst="rect">
            <a:avLst/>
          </a:prstGeom>
          <a:solidFill>
            <a:srgbClr val="E8F4F8"/>
          </a:solidFill>
          <a:ln w="25400">
            <a:solidFill>
              <a:srgbClr val="0891B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2344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63440" y="10972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DOM/HTML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</a:t>
            </a:r>
            <a:endParaRPr lang="en-US" sz="11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691640"/>
            <a:ext cx="228600" cy="22860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206240" y="1965960"/>
            <a:ext cx="1645920" cy="548640"/>
          </a:xfrm>
          <a:prstGeom prst="rect">
            <a:avLst/>
          </a:prstGeom>
          <a:solidFill>
            <a:srgbClr val="FFE5E5"/>
          </a:solidFill>
          <a:ln w="25400">
            <a:solidFill>
              <a:srgbClr val="FF6B6B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2103120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663440" y="19659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</a:t>
            </a:r>
            <a:endParaRPr lang="en-US" sz="11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4900" y="2560320"/>
            <a:ext cx="228600" cy="22860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4206240" y="2834640"/>
            <a:ext cx="1645920" cy="548640"/>
          </a:xfrm>
          <a:prstGeom prst="rect">
            <a:avLst/>
          </a:prstGeom>
          <a:solidFill>
            <a:srgbClr val="E8F4F8"/>
          </a:solidFill>
          <a:ln w="25400">
            <a:solidFill>
              <a:srgbClr val="0891B2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2971800"/>
            <a:ext cx="274320" cy="27432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4663440" y="283464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10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4900" y="3429000"/>
            <a:ext cx="228600" cy="228600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4206240" y="3703320"/>
            <a:ext cx="1645920" cy="548640"/>
          </a:xfrm>
          <a:prstGeom prst="rect">
            <a:avLst/>
          </a:prstGeom>
          <a:solidFill>
            <a:srgbClr val="D4EDDA"/>
          </a:solidFill>
          <a:ln w="25400">
            <a:solidFill>
              <a:srgbClr val="28A745"/>
            </a:solidFill>
            <a:prstDash val="solid"/>
          </a:ln>
        </p:spPr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3400" y="3840480"/>
            <a:ext cx="274320" cy="274320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4663440" y="370332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Code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</a:t>
            </a:r>
            <a:endParaRPr lang="en-US" sz="1100" dirty="0"/>
          </a:p>
        </p:txBody>
      </p:sp>
      <p:sp>
        <p:nvSpPr>
          <p:cNvPr id="25" name="Shape 15"/>
          <p:cNvSpPr/>
          <p:nvPr/>
        </p:nvSpPr>
        <p:spPr>
          <a:xfrm>
            <a:off x="6217920" y="1097280"/>
            <a:ext cx="2468880" cy="3474720"/>
          </a:xfrm>
          <a:prstGeom prst="rect">
            <a:avLst/>
          </a:prstGeom>
          <a:solidFill>
            <a:srgbClr val="2E3A59"/>
          </a:solidFill>
          <a:ln/>
        </p:spPr>
      </p:sp>
      <p:sp>
        <p:nvSpPr>
          <p:cNvPr id="26" name="Text 16"/>
          <p:cNvSpPr/>
          <p:nvPr/>
        </p:nvSpPr>
        <p:spPr>
          <a:xfrm>
            <a:off x="6355080" y="13258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</a:t>
            </a:r>
            <a:endParaRPr lang="en-US" sz="1200" dirty="0"/>
          </a:p>
        </p:txBody>
      </p:sp>
      <p:sp>
        <p:nvSpPr>
          <p:cNvPr id="27" name="Text 17"/>
          <p:cNvSpPr/>
          <p:nvPr/>
        </p:nvSpPr>
        <p:spPr>
          <a:xfrm>
            <a:off x="6355080" y="164592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62%</a:t>
            </a:r>
            <a:endParaRPr lang="en-US" sz="6000" dirty="0"/>
          </a:p>
        </p:txBody>
      </p:sp>
      <p:sp>
        <p:nvSpPr>
          <p:cNvPr id="28" name="Text 18"/>
          <p:cNvSpPr/>
          <p:nvPr/>
        </p:nvSpPr>
        <p:spPr>
          <a:xfrm>
            <a:off x="6355080" y="237744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</a:t>
            </a:r>
            <a:endParaRPr lang="en-US" sz="1600" dirty="0"/>
          </a:p>
        </p:txBody>
      </p:sp>
      <p:sp>
        <p:nvSpPr>
          <p:cNvPr id="29" name="Shape 19"/>
          <p:cNvSpPr/>
          <p:nvPr/>
        </p:nvSpPr>
        <p:spPr>
          <a:xfrm>
            <a:off x="6355080" y="2743200"/>
            <a:ext cx="2194560" cy="18288"/>
          </a:xfrm>
          <a:prstGeom prst="rect">
            <a:avLst/>
          </a:prstGeom>
          <a:solidFill>
            <a:srgbClr val="FFA500">
              <a:alpha val="50000"/>
            </a:srgbClr>
          </a:solidFill>
          <a:ln/>
        </p:spPr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2971800"/>
            <a:ext cx="274320" cy="274320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6766560" y="3017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</a:t>
            </a:r>
            <a:pPr indent="0" marL="0">
              <a:buNone/>
            </a:pPr>
            <a:r>
              <a:rPr lang="en-US" sz="1200" dirty="0">
                <a:solidFill>
                  <a:srgbClr val="E1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hrs</a:t>
            </a:r>
            <a:endParaRPr lang="en-US" sz="1200" dirty="0"/>
          </a:p>
        </p:txBody>
      </p:sp>
      <p:pic>
        <p:nvPicPr>
          <p:cNvPr id="3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46520" y="3383280"/>
            <a:ext cx="274320" cy="274320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6766560" y="34290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 </a:t>
            </a:r>
            <a:pPr indent="0" marL="0">
              <a:buNone/>
            </a:pPr>
            <a:r>
              <a:rPr lang="en-US" sz="1200" dirty="0">
                <a:solidFill>
                  <a:srgbClr val="FF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hrs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3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2: Code Review Automation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4747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rgbClr val="FFE5E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440180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3716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Reviews using GitHub Copilot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85800" y="1874520"/>
            <a:ext cx="3017520" cy="18288"/>
          </a:xfrm>
          <a:prstGeom prst="rect">
            <a:avLst/>
          </a:prstGeom>
          <a:solidFill>
            <a:srgbClr val="E1E8ED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965960"/>
            <a:ext cx="30175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Quality Assurance</a:t>
            </a:r>
            <a:endParaRPr lang="en-US" sz="1200" dirty="0"/>
          </a:p>
          <a:p>
            <a:pPr lvl="1" indent="0" marL="0">
              <a:buNone/>
            </a:pPr>
            <a:r>
              <a:rPr lang="en-US" sz="1000" dirty="0">
                <a:solidFill>
                  <a:srgbClr val="6C7A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PR review with feedback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Compliance</a:t>
            </a:r>
            <a:endParaRPr lang="en-US" sz="1200" dirty="0"/>
          </a:p>
          <a:p>
            <a:pPr lvl="1" indent="0" marL="0">
              <a:buNone/>
            </a:pPr>
            <a:r>
              <a:rPr lang="en-US" sz="1000" dirty="0">
                <a:solidFill>
                  <a:srgbClr val="6C7A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coding standards automatically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Feedback Loop</a:t>
            </a:r>
            <a:endParaRPr lang="en-US" sz="1200" dirty="0"/>
          </a:p>
          <a:p>
            <a:pPr lvl="1" indent="0" marL="0">
              <a:buNone/>
            </a:pPr>
            <a:r>
              <a:rPr lang="en-US" sz="1000" dirty="0">
                <a:solidFill>
                  <a:srgbClr val="6C7A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iteration &amp; deployment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06240" y="1097280"/>
            <a:ext cx="1645920" cy="548640"/>
          </a:xfrm>
          <a:prstGeom prst="rect">
            <a:avLst/>
          </a:prstGeom>
          <a:solidFill>
            <a:srgbClr val="E8F4F8"/>
          </a:solidFill>
          <a:ln w="25400">
            <a:solidFill>
              <a:srgbClr val="0891B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2344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63440" y="10972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</a:t>
            </a:r>
            <a:endParaRPr lang="en-US" sz="11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691640"/>
            <a:ext cx="228600" cy="22860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206240" y="1965960"/>
            <a:ext cx="1645920" cy="548640"/>
          </a:xfrm>
          <a:prstGeom prst="rect">
            <a:avLst/>
          </a:prstGeom>
          <a:solidFill>
            <a:srgbClr val="FFE5E5"/>
          </a:solidFill>
          <a:ln w="25400">
            <a:solidFill>
              <a:srgbClr val="FF6B6B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2103120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663440" y="19659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</a:t>
            </a:r>
            <a:endParaRPr lang="en-US" sz="11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4900" y="2560320"/>
            <a:ext cx="228600" cy="22860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4206240" y="2834640"/>
            <a:ext cx="1645920" cy="548640"/>
          </a:xfrm>
          <a:prstGeom prst="rect">
            <a:avLst/>
          </a:prstGeom>
          <a:solidFill>
            <a:srgbClr val="E8F4F8"/>
          </a:solidFill>
          <a:ln w="25400">
            <a:solidFill>
              <a:srgbClr val="0891B2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2971800"/>
            <a:ext cx="274320" cy="27432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4663440" y="283464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</a:t>
            </a:r>
            <a:endParaRPr lang="en-US" sz="110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4900" y="3429000"/>
            <a:ext cx="228600" cy="228600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4206240" y="3703320"/>
            <a:ext cx="1645920" cy="548640"/>
          </a:xfrm>
          <a:prstGeom prst="rect">
            <a:avLst/>
          </a:prstGeom>
          <a:solidFill>
            <a:srgbClr val="D4EDDA"/>
          </a:solidFill>
          <a:ln w="25400">
            <a:solidFill>
              <a:srgbClr val="28A745"/>
            </a:solidFill>
            <a:prstDash val="solid"/>
          </a:ln>
        </p:spPr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3400" y="3840480"/>
            <a:ext cx="274320" cy="274320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4663440" y="370332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</a:t>
            </a:r>
            <a:endParaRPr lang="en-US" sz="1100" dirty="0"/>
          </a:p>
        </p:txBody>
      </p:sp>
      <p:sp>
        <p:nvSpPr>
          <p:cNvPr id="25" name="Shape 15"/>
          <p:cNvSpPr/>
          <p:nvPr/>
        </p:nvSpPr>
        <p:spPr>
          <a:xfrm>
            <a:off x="6217920" y="1097280"/>
            <a:ext cx="2468880" cy="3474720"/>
          </a:xfrm>
          <a:prstGeom prst="rect">
            <a:avLst/>
          </a:prstGeom>
          <a:solidFill>
            <a:srgbClr val="2E3A59"/>
          </a:solidFill>
          <a:ln/>
        </p:spPr>
      </p:sp>
      <p:sp>
        <p:nvSpPr>
          <p:cNvPr id="26" name="Text 16"/>
          <p:cNvSpPr/>
          <p:nvPr/>
        </p:nvSpPr>
        <p:spPr>
          <a:xfrm>
            <a:off x="6355080" y="13258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</a:t>
            </a:r>
            <a:endParaRPr lang="en-US" sz="1200" dirty="0"/>
          </a:p>
        </p:txBody>
      </p:sp>
      <p:sp>
        <p:nvSpPr>
          <p:cNvPr id="27" name="Text 17"/>
          <p:cNvSpPr/>
          <p:nvPr/>
        </p:nvSpPr>
        <p:spPr>
          <a:xfrm>
            <a:off x="6355080" y="164592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83%</a:t>
            </a:r>
            <a:endParaRPr lang="en-US" sz="6000" dirty="0"/>
          </a:p>
        </p:txBody>
      </p:sp>
      <p:sp>
        <p:nvSpPr>
          <p:cNvPr id="28" name="Text 18"/>
          <p:cNvSpPr/>
          <p:nvPr/>
        </p:nvSpPr>
        <p:spPr>
          <a:xfrm>
            <a:off x="6355080" y="237744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</a:t>
            </a:r>
            <a:endParaRPr lang="en-US" sz="1600" dirty="0"/>
          </a:p>
        </p:txBody>
      </p:sp>
      <p:sp>
        <p:nvSpPr>
          <p:cNvPr id="29" name="Shape 19"/>
          <p:cNvSpPr/>
          <p:nvPr/>
        </p:nvSpPr>
        <p:spPr>
          <a:xfrm>
            <a:off x="6355080" y="2743200"/>
            <a:ext cx="2194560" cy="18288"/>
          </a:xfrm>
          <a:prstGeom prst="rect">
            <a:avLst/>
          </a:prstGeom>
          <a:solidFill>
            <a:srgbClr val="FFA500">
              <a:alpha val="50000"/>
            </a:srgbClr>
          </a:solidFill>
          <a:ln/>
        </p:spPr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2971800"/>
            <a:ext cx="274320" cy="274320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6766560" y="3017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</a:t>
            </a:r>
            <a:pPr indent="0" marL="0">
              <a:buNone/>
            </a:pPr>
            <a:r>
              <a:rPr lang="en-US" sz="1200" dirty="0">
                <a:solidFill>
                  <a:srgbClr val="E1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200" dirty="0"/>
          </a:p>
        </p:txBody>
      </p:sp>
      <p:pic>
        <p:nvPicPr>
          <p:cNvPr id="3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46520" y="3383280"/>
            <a:ext cx="274320" cy="274320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6766560" y="34290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 </a:t>
            </a:r>
            <a:pPr indent="0" marL="0">
              <a:buNone/>
            </a:pPr>
            <a:r>
              <a:rPr lang="en-US" sz="1200" dirty="0">
                <a:solidFill>
                  <a:srgbClr val="FF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3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3: Gherkin Test Case Generation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828800" cy="3657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PROCESS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1828800" cy="457200"/>
          </a:xfrm>
          <a:prstGeom prst="rect">
            <a:avLst/>
          </a:prstGeom>
          <a:solidFill>
            <a:srgbClr val="F8D7DA"/>
          </a:solidFill>
          <a:ln w="25400">
            <a:solidFill>
              <a:srgbClr val="DC354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228600" cy="228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150876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</a:t>
            </a:r>
            <a:endParaRPr lang="en-US" sz="9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011680"/>
            <a:ext cx="182880" cy="18288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57200" y="2240280"/>
            <a:ext cx="1828800" cy="457200"/>
          </a:xfrm>
          <a:prstGeom prst="rect">
            <a:avLst/>
          </a:prstGeom>
          <a:solidFill>
            <a:srgbClr val="F8D7DA"/>
          </a:solidFill>
          <a:ln w="25400">
            <a:solidFill>
              <a:srgbClr val="DC3545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331720"/>
            <a:ext cx="228600" cy="2286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" y="224028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Refinement</a:t>
            </a:r>
            <a:endParaRPr lang="en-US" sz="9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2743200"/>
            <a:ext cx="182880" cy="18288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57200" y="2971800"/>
            <a:ext cx="1828800" cy="457200"/>
          </a:xfrm>
          <a:prstGeom prst="rect">
            <a:avLst/>
          </a:prstGeom>
          <a:solidFill>
            <a:srgbClr val="F8D7DA"/>
          </a:solidFill>
          <a:ln w="25400">
            <a:solidFill>
              <a:srgbClr val="DC3545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063240"/>
            <a:ext cx="228600" cy="2286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22960" y="297180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Write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Steps</a:t>
            </a:r>
            <a:endParaRPr lang="en-US" sz="9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160" y="3474720"/>
            <a:ext cx="182880" cy="182880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457200" y="3703320"/>
            <a:ext cx="1828800" cy="457200"/>
          </a:xfrm>
          <a:prstGeom prst="rect">
            <a:avLst/>
          </a:prstGeom>
          <a:solidFill>
            <a:srgbClr val="F8D7DA"/>
          </a:solidFill>
          <a:ln w="25400">
            <a:solidFill>
              <a:srgbClr val="DC3545"/>
            </a:solidFill>
            <a:prstDash val="solid"/>
          </a:ln>
        </p:spPr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794760"/>
            <a:ext cx="228600" cy="228600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22960" y="3703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Refinement</a:t>
            </a:r>
            <a:endParaRPr lang="en-US" sz="900" dirty="0"/>
          </a:p>
        </p:txBody>
      </p:sp>
      <p:sp>
        <p:nvSpPr>
          <p:cNvPr id="21" name="Shape 12"/>
          <p:cNvSpPr/>
          <p:nvPr/>
        </p:nvSpPr>
        <p:spPr>
          <a:xfrm>
            <a:off x="2560320" y="1005840"/>
            <a:ext cx="1828800" cy="36576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2" name="Text 13"/>
          <p:cNvSpPr/>
          <p:nvPr/>
        </p:nvSpPr>
        <p:spPr>
          <a:xfrm>
            <a:off x="2560320" y="10058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COPILOT</a:t>
            </a:r>
            <a:endParaRPr lang="en-US" sz="1200" dirty="0"/>
          </a:p>
        </p:txBody>
      </p:sp>
      <p:sp>
        <p:nvSpPr>
          <p:cNvPr id="23" name="Shape 14"/>
          <p:cNvSpPr/>
          <p:nvPr/>
        </p:nvSpPr>
        <p:spPr>
          <a:xfrm>
            <a:off x="2560320" y="1508760"/>
            <a:ext cx="1828800" cy="457200"/>
          </a:xfrm>
          <a:prstGeom prst="rect">
            <a:avLst/>
          </a:prstGeom>
          <a:solidFill>
            <a:srgbClr val="E8F4F8"/>
          </a:solidFill>
          <a:ln w="25400">
            <a:solidFill>
              <a:srgbClr val="0891B2"/>
            </a:solidFill>
            <a:prstDash val="solid"/>
          </a:ln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1760" y="1600200"/>
            <a:ext cx="228600" cy="22860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2926080" y="150876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</a:t>
            </a:r>
            <a:endParaRPr lang="en-US" sz="900" dirty="0"/>
          </a:p>
        </p:txBody>
      </p:sp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83280" y="2011680"/>
            <a:ext cx="182880" cy="182880"/>
          </a:xfrm>
          <a:prstGeom prst="rect">
            <a:avLst/>
          </a:prstGeom>
        </p:spPr>
      </p:pic>
      <p:sp>
        <p:nvSpPr>
          <p:cNvPr id="27" name="Shape 16"/>
          <p:cNvSpPr/>
          <p:nvPr/>
        </p:nvSpPr>
        <p:spPr>
          <a:xfrm>
            <a:off x="2560320" y="2240280"/>
            <a:ext cx="1828800" cy="457200"/>
          </a:xfrm>
          <a:prstGeom prst="rect">
            <a:avLst/>
          </a:prstGeom>
          <a:solidFill>
            <a:srgbClr val="FFE5E5"/>
          </a:solidFill>
          <a:ln w="25400">
            <a:solidFill>
              <a:srgbClr val="FF6B6B"/>
            </a:solidFill>
            <a:prstDash val="solid"/>
          </a:ln>
        </p:spPr>
      </p:sp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51760" y="2331720"/>
            <a:ext cx="228600" cy="228600"/>
          </a:xfrm>
          <a:prstGeom prst="rect">
            <a:avLst/>
          </a:prstGeom>
        </p:spPr>
      </p:pic>
      <p:sp>
        <p:nvSpPr>
          <p:cNvPr id="29" name="Text 17"/>
          <p:cNvSpPr/>
          <p:nvPr/>
        </p:nvSpPr>
        <p:spPr>
          <a:xfrm>
            <a:off x="2926080" y="224028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CDG (Context-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Gen)</a:t>
            </a:r>
            <a:endParaRPr lang="en-US" sz="900" dirty="0"/>
          </a:p>
        </p:txBody>
      </p:sp>
      <p:pic>
        <p:nvPicPr>
          <p:cNvPr id="3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83280" y="2743200"/>
            <a:ext cx="182880" cy="182880"/>
          </a:xfrm>
          <a:prstGeom prst="rect">
            <a:avLst/>
          </a:prstGeom>
        </p:spPr>
      </p:pic>
      <p:sp>
        <p:nvSpPr>
          <p:cNvPr id="31" name="Shape 18"/>
          <p:cNvSpPr/>
          <p:nvPr/>
        </p:nvSpPr>
        <p:spPr>
          <a:xfrm>
            <a:off x="2560320" y="2971800"/>
            <a:ext cx="1828800" cy="457200"/>
          </a:xfrm>
          <a:prstGeom prst="rect">
            <a:avLst/>
          </a:prstGeom>
          <a:solidFill>
            <a:srgbClr val="E8F4F8"/>
          </a:solidFill>
          <a:ln w="25400">
            <a:solidFill>
              <a:srgbClr val="0891B2"/>
            </a:solidFill>
            <a:prstDash val="solid"/>
          </a:ln>
        </p:spPr>
      </p:sp>
      <p:pic>
        <p:nvPicPr>
          <p:cNvPr id="3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51760" y="3063240"/>
            <a:ext cx="228600" cy="228600"/>
          </a:xfrm>
          <a:prstGeom prst="rect">
            <a:avLst/>
          </a:prstGeom>
        </p:spPr>
      </p:pic>
      <p:sp>
        <p:nvSpPr>
          <p:cNvPr id="33" name="Text 19"/>
          <p:cNvSpPr/>
          <p:nvPr/>
        </p:nvSpPr>
        <p:spPr>
          <a:xfrm>
            <a:off x="2926080" y="297180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</a:t>
            </a:r>
            <a:endParaRPr lang="en-US" sz="900" dirty="0"/>
          </a:p>
        </p:txBody>
      </p:sp>
      <p:pic>
        <p:nvPicPr>
          <p:cNvPr id="3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83280" y="3474720"/>
            <a:ext cx="182880" cy="182880"/>
          </a:xfrm>
          <a:prstGeom prst="rect">
            <a:avLst/>
          </a:prstGeom>
        </p:spPr>
      </p:pic>
      <p:sp>
        <p:nvSpPr>
          <p:cNvPr id="35" name="Shape 20"/>
          <p:cNvSpPr/>
          <p:nvPr/>
        </p:nvSpPr>
        <p:spPr>
          <a:xfrm>
            <a:off x="2560320" y="3703320"/>
            <a:ext cx="1828800" cy="457200"/>
          </a:xfrm>
          <a:prstGeom prst="rect">
            <a:avLst/>
          </a:prstGeom>
          <a:solidFill>
            <a:srgbClr val="D4EDDA"/>
          </a:solidFill>
          <a:ln w="25400">
            <a:solidFill>
              <a:srgbClr val="28A745"/>
            </a:solidFill>
            <a:prstDash val="solid"/>
          </a:ln>
        </p:spPr>
      </p:sp>
      <p:pic>
        <p:nvPicPr>
          <p:cNvPr id="3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51760" y="3794760"/>
            <a:ext cx="228600" cy="228600"/>
          </a:xfrm>
          <a:prstGeom prst="rect">
            <a:avLst/>
          </a:prstGeom>
        </p:spPr>
      </p:pic>
      <p:sp>
        <p:nvSpPr>
          <p:cNvPr id="37" name="Text 21"/>
          <p:cNvSpPr/>
          <p:nvPr/>
        </p:nvSpPr>
        <p:spPr>
          <a:xfrm>
            <a:off x="2926080" y="3703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57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557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900" dirty="0"/>
          </a:p>
        </p:txBody>
      </p:sp>
      <p:sp>
        <p:nvSpPr>
          <p:cNvPr id="38" name="Shape 22"/>
          <p:cNvSpPr/>
          <p:nvPr/>
        </p:nvSpPr>
        <p:spPr>
          <a:xfrm>
            <a:off x="4663440" y="118872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8ED"/>
            </a:solidFill>
            <a:prstDash val="solid"/>
          </a:ln>
        </p:spPr>
      </p:sp>
      <p:sp>
        <p:nvSpPr>
          <p:cNvPr id="39" name="Text 23"/>
          <p:cNvSpPr/>
          <p:nvPr/>
        </p:nvSpPr>
        <p:spPr>
          <a:xfrm>
            <a:off x="484632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Benefits</a:t>
            </a:r>
            <a:endParaRPr lang="en-US" sz="1600" dirty="0"/>
          </a:p>
        </p:txBody>
      </p:sp>
      <p:sp>
        <p:nvSpPr>
          <p:cNvPr id="40" name="Text 24"/>
          <p:cNvSpPr/>
          <p:nvPr/>
        </p:nvSpPr>
        <p:spPr>
          <a:xfrm>
            <a:off x="4846320" y="173736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Context-Driven Generation</a:t>
            </a:r>
            <a:endParaRPr lang="en-US" sz="1100" dirty="0"/>
          </a:p>
          <a:p>
            <a:pPr lvl="1" indent="0" marL="0">
              <a:buNone/>
            </a:pPr>
            <a:r>
              <a:rPr lang="en-US" sz="900" dirty="0">
                <a:solidFill>
                  <a:srgbClr val="6C7A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Leverages acceptance criteria automatically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Instruction-Based Quality</a:t>
            </a:r>
            <a:endParaRPr lang="en-US" sz="1100" dirty="0"/>
          </a:p>
          <a:p>
            <a:pPr lvl="1" indent="0" marL="0">
              <a:buNone/>
            </a:pPr>
            <a:r>
              <a:rPr lang="en-US" sz="900" dirty="0">
                <a:solidFill>
                  <a:srgbClr val="6C7A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Maintains consistency with predefined standards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Streamlined Workflow</a:t>
            </a:r>
            <a:endParaRPr lang="en-US" sz="1100" dirty="0"/>
          </a:p>
          <a:p>
            <a:pPr lvl="1" indent="0" marL="0">
              <a:buNone/>
            </a:pPr>
            <a:r>
              <a:rPr lang="en-US" sz="900" dirty="0">
                <a:solidFill>
                  <a:srgbClr val="6C7A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Eliminates multiple manual review cycles</a:t>
            </a:r>
            <a:endParaRPr lang="en-US" sz="1100" dirty="0"/>
          </a:p>
        </p:txBody>
      </p:sp>
      <p:sp>
        <p:nvSpPr>
          <p:cNvPr id="41" name="Shape 25"/>
          <p:cNvSpPr/>
          <p:nvPr/>
        </p:nvSpPr>
        <p:spPr>
          <a:xfrm>
            <a:off x="4846320" y="3291840"/>
            <a:ext cx="3657600" cy="18288"/>
          </a:xfrm>
          <a:prstGeom prst="rect">
            <a:avLst/>
          </a:prstGeom>
          <a:solidFill>
            <a:srgbClr val="E1E8ED"/>
          </a:solidFill>
          <a:ln/>
        </p:spPr>
      </p:sp>
      <p:sp>
        <p:nvSpPr>
          <p:cNvPr id="42" name="Text 26"/>
          <p:cNvSpPr/>
          <p:nvPr/>
        </p:nvSpPr>
        <p:spPr>
          <a:xfrm>
            <a:off x="4846320" y="34290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SAVINGS</a:t>
            </a:r>
            <a:endParaRPr lang="en-US" sz="1100" dirty="0"/>
          </a:p>
        </p:txBody>
      </p:sp>
      <p:pic>
        <p:nvPicPr>
          <p:cNvPr id="4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3749040"/>
            <a:ext cx="228600" cy="228600"/>
          </a:xfrm>
          <a:prstGeom prst="rect">
            <a:avLst/>
          </a:prstGeom>
        </p:spPr>
      </p:pic>
      <p:sp>
        <p:nvSpPr>
          <p:cNvPr id="44" name="Text 27"/>
          <p:cNvSpPr/>
          <p:nvPr/>
        </p:nvSpPr>
        <p:spPr>
          <a:xfrm>
            <a:off x="5212080" y="379476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15-20 test cases: </a:t>
            </a:r>
            <a:pPr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hrs → 2 hrs</a:t>
            </a:r>
            <a:endParaRPr lang="en-US" sz="1000" dirty="0"/>
          </a:p>
        </p:txBody>
      </p:sp>
      <p:pic>
        <p:nvPicPr>
          <p:cNvPr id="4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937760" y="4023360"/>
            <a:ext cx="228600" cy="228600"/>
          </a:xfrm>
          <a:prstGeom prst="rect">
            <a:avLst/>
          </a:prstGeom>
        </p:spPr>
      </p:pic>
      <p:sp>
        <p:nvSpPr>
          <p:cNvPr id="46" name="Text 28"/>
          <p:cNvSpPr/>
          <p:nvPr/>
        </p:nvSpPr>
        <p:spPr>
          <a:xfrm>
            <a:off x="5212080" y="406908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test cases: </a:t>
            </a:r>
            <a:pPr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hrs → 2-3 hrs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Use Cases</dc:title>
  <dc:subject>PptxGenJS Presentation</dc:subject>
  <dc:creator>GitHub Copilot Demo</dc:creator>
  <cp:lastModifiedBy>GitHub Copilot Demo</cp:lastModifiedBy>
  <cp:revision>1</cp:revision>
  <dcterms:created xsi:type="dcterms:W3CDTF">2026-01-29T08:03:06Z</dcterms:created>
  <dcterms:modified xsi:type="dcterms:W3CDTF">2026-01-29T08:03:06Z</dcterms:modified>
</cp:coreProperties>
</file>